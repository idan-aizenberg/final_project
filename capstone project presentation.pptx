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35"/>
    <p:restoredTop sz="94630"/>
  </p:normalViewPr>
  <p:slideViewPr>
    <p:cSldViewPr snapToGrid="0">
      <p:cViewPr>
        <p:scale>
          <a:sx n="131" d="100"/>
          <a:sy n="131" d="100"/>
        </p:scale>
        <p:origin x="1280" y="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18D98A-5FF3-4FD7-9D7F-B0746BF6C48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1D962C-0AF6-4617-BCB7-BE0A1A1906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Technical Implementation </a:t>
          </a:r>
        </a:p>
      </dgm:t>
    </dgm:pt>
    <dgm:pt modelId="{A1E3B865-822A-467F-958E-BEA50FB8D7EC}" type="parTrans" cxnId="{85FC3082-F302-4422-8943-889C2E5D3A59}">
      <dgm:prSet/>
      <dgm:spPr/>
      <dgm:t>
        <a:bodyPr/>
        <a:lstStyle/>
        <a:p>
          <a:endParaRPr lang="en-US"/>
        </a:p>
      </dgm:t>
    </dgm:pt>
    <dgm:pt modelId="{55BC2217-DF28-4F7D-8BE8-0ACF37B4C890}" type="sibTrans" cxnId="{85FC3082-F302-4422-8943-889C2E5D3A59}">
      <dgm:prSet/>
      <dgm:spPr/>
      <dgm:t>
        <a:bodyPr/>
        <a:lstStyle/>
        <a:p>
          <a:endParaRPr lang="en-US"/>
        </a:p>
      </dgm:t>
    </dgm:pt>
    <dgm:pt modelId="{E1F2FFBD-18CC-444D-973D-4889A03904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Experience Design</a:t>
          </a:r>
        </a:p>
      </dgm:t>
    </dgm:pt>
    <dgm:pt modelId="{F0BAD86F-9BBA-4BB0-8C24-148CF218F7FA}" type="parTrans" cxnId="{DE8B41C0-621F-4153-980C-6D9994352E98}">
      <dgm:prSet/>
      <dgm:spPr/>
      <dgm:t>
        <a:bodyPr/>
        <a:lstStyle/>
        <a:p>
          <a:endParaRPr lang="en-US"/>
        </a:p>
      </dgm:t>
    </dgm:pt>
    <dgm:pt modelId="{19512A9C-71C7-481B-8B75-883AC2F58A93}" type="sibTrans" cxnId="{DE8B41C0-621F-4153-980C-6D9994352E98}">
      <dgm:prSet/>
      <dgm:spPr/>
      <dgm:t>
        <a:bodyPr/>
        <a:lstStyle/>
        <a:p>
          <a:endParaRPr lang="en-US"/>
        </a:p>
      </dgm:t>
    </dgm:pt>
    <dgm:pt modelId="{B3CCB2FF-1E3C-4B9A-ACBD-66E5B9390D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Model Implementation </a:t>
          </a:r>
        </a:p>
      </dgm:t>
    </dgm:pt>
    <dgm:pt modelId="{FCB7D2DE-3094-4EF2-A634-C0A4E2FE122A}" type="parTrans" cxnId="{3A587E67-7500-4E81-B341-B28C54DEB37C}">
      <dgm:prSet/>
      <dgm:spPr/>
      <dgm:t>
        <a:bodyPr/>
        <a:lstStyle/>
        <a:p>
          <a:endParaRPr lang="en-US"/>
        </a:p>
      </dgm:t>
    </dgm:pt>
    <dgm:pt modelId="{88320F91-B4AB-432B-8272-A7B57218EA1E}" type="sibTrans" cxnId="{3A587E67-7500-4E81-B341-B28C54DEB37C}">
      <dgm:prSet/>
      <dgm:spPr/>
      <dgm:t>
        <a:bodyPr/>
        <a:lstStyle/>
        <a:p>
          <a:endParaRPr lang="en-US"/>
        </a:p>
      </dgm:t>
    </dgm:pt>
    <dgm:pt modelId="{22AEE2E6-4895-447B-9F9B-FF205BBEDD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Accessibility and Internationalization </a:t>
          </a:r>
        </a:p>
      </dgm:t>
    </dgm:pt>
    <dgm:pt modelId="{D2A0E869-5760-455C-928B-17E0448D1B03}" type="parTrans" cxnId="{9086EDEE-DEA3-4A88-AA80-149CE6ECCFBC}">
      <dgm:prSet/>
      <dgm:spPr/>
      <dgm:t>
        <a:bodyPr/>
        <a:lstStyle/>
        <a:p>
          <a:endParaRPr lang="en-US"/>
        </a:p>
      </dgm:t>
    </dgm:pt>
    <dgm:pt modelId="{70AE6DA9-2FFC-4736-BDA0-B826C136DD3D}" type="sibTrans" cxnId="{9086EDEE-DEA3-4A88-AA80-149CE6ECCFBC}">
      <dgm:prSet/>
      <dgm:spPr/>
      <dgm:t>
        <a:bodyPr/>
        <a:lstStyle/>
        <a:p>
          <a:endParaRPr lang="en-US"/>
        </a:p>
      </dgm:t>
    </dgm:pt>
    <dgm:pt modelId="{9BB5D843-FCBF-4083-A6CE-39F7E88FC5FE}" type="pres">
      <dgm:prSet presAssocID="{A618D98A-5FF3-4FD7-9D7F-B0746BF6C48E}" presName="root" presStyleCnt="0">
        <dgm:presLayoutVars>
          <dgm:dir/>
          <dgm:resizeHandles val="exact"/>
        </dgm:presLayoutVars>
      </dgm:prSet>
      <dgm:spPr/>
    </dgm:pt>
    <dgm:pt modelId="{17A836D3-D6AA-446E-9C63-E35046701966}" type="pres">
      <dgm:prSet presAssocID="{351D962C-0AF6-4617-BCB7-BE0A1A190654}" presName="compNode" presStyleCnt="0"/>
      <dgm:spPr/>
    </dgm:pt>
    <dgm:pt modelId="{CC23866A-7F26-4003-9535-EF54C119F121}" type="pres">
      <dgm:prSet presAssocID="{351D962C-0AF6-4617-BCB7-BE0A1A19065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גלגלי שיניים"/>
        </a:ext>
      </dgm:extLst>
    </dgm:pt>
    <dgm:pt modelId="{E0D06D61-ECFF-4292-B8BA-CB0CCC6F5122}" type="pres">
      <dgm:prSet presAssocID="{351D962C-0AF6-4617-BCB7-BE0A1A190654}" presName="spaceRect" presStyleCnt="0"/>
      <dgm:spPr/>
    </dgm:pt>
    <dgm:pt modelId="{5531B2AC-6F7C-44C0-82EA-0F5DAF5890B9}" type="pres">
      <dgm:prSet presAssocID="{351D962C-0AF6-4617-BCB7-BE0A1A190654}" presName="textRect" presStyleLbl="revTx" presStyleIdx="0" presStyleCnt="4">
        <dgm:presLayoutVars>
          <dgm:chMax val="1"/>
          <dgm:chPref val="1"/>
        </dgm:presLayoutVars>
      </dgm:prSet>
      <dgm:spPr/>
    </dgm:pt>
    <dgm:pt modelId="{49BB8AE6-E8A1-4E63-9913-585F6F7EDCF2}" type="pres">
      <dgm:prSet presAssocID="{55BC2217-DF28-4F7D-8BE8-0ACF37B4C890}" presName="sibTrans" presStyleCnt="0"/>
      <dgm:spPr/>
    </dgm:pt>
    <dgm:pt modelId="{F8DDE8BC-432B-458B-86D9-F32E3615A1E1}" type="pres">
      <dgm:prSet presAssocID="{E1F2FFBD-18CC-444D-973D-4889A039048B}" presName="compNode" presStyleCnt="0"/>
      <dgm:spPr/>
    </dgm:pt>
    <dgm:pt modelId="{253C57F8-DD5E-4018-9640-DC8E50F962A2}" type="pres">
      <dgm:prSet presAssocID="{E1F2FFBD-18CC-444D-973D-4889A039048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שתמש"/>
        </a:ext>
      </dgm:extLst>
    </dgm:pt>
    <dgm:pt modelId="{A9B4EFB6-C364-4696-8729-4D9B396E0A38}" type="pres">
      <dgm:prSet presAssocID="{E1F2FFBD-18CC-444D-973D-4889A039048B}" presName="spaceRect" presStyleCnt="0"/>
      <dgm:spPr/>
    </dgm:pt>
    <dgm:pt modelId="{34A8FAC0-4F20-4711-AF42-FAB26F7A3C72}" type="pres">
      <dgm:prSet presAssocID="{E1F2FFBD-18CC-444D-973D-4889A039048B}" presName="textRect" presStyleLbl="revTx" presStyleIdx="1" presStyleCnt="4">
        <dgm:presLayoutVars>
          <dgm:chMax val="1"/>
          <dgm:chPref val="1"/>
        </dgm:presLayoutVars>
      </dgm:prSet>
      <dgm:spPr/>
    </dgm:pt>
    <dgm:pt modelId="{D58FB308-7E3D-45F9-B459-3880BBE6A600}" type="pres">
      <dgm:prSet presAssocID="{19512A9C-71C7-481B-8B75-883AC2F58A93}" presName="sibTrans" presStyleCnt="0"/>
      <dgm:spPr/>
    </dgm:pt>
    <dgm:pt modelId="{1CED7AE4-F187-4C39-A270-89D741614547}" type="pres">
      <dgm:prSet presAssocID="{B3CCB2FF-1E3C-4B9A-ACBD-66E5B9390DAF}" presName="compNode" presStyleCnt="0"/>
      <dgm:spPr/>
    </dgm:pt>
    <dgm:pt modelId="{1D792ADC-ED57-400A-9BA7-82417F29EB07}" type="pres">
      <dgm:prSet presAssocID="{B3CCB2FF-1E3C-4B9A-ACBD-66E5B9390DA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לחיצת יד"/>
        </a:ext>
      </dgm:extLst>
    </dgm:pt>
    <dgm:pt modelId="{0DB582AD-EFD6-421B-9439-0CFFC5F1382B}" type="pres">
      <dgm:prSet presAssocID="{B3CCB2FF-1E3C-4B9A-ACBD-66E5B9390DAF}" presName="spaceRect" presStyleCnt="0"/>
      <dgm:spPr/>
    </dgm:pt>
    <dgm:pt modelId="{B1D3655D-3799-44CC-B65F-9F93E1E92D71}" type="pres">
      <dgm:prSet presAssocID="{B3CCB2FF-1E3C-4B9A-ACBD-66E5B9390DAF}" presName="textRect" presStyleLbl="revTx" presStyleIdx="2" presStyleCnt="4">
        <dgm:presLayoutVars>
          <dgm:chMax val="1"/>
          <dgm:chPref val="1"/>
        </dgm:presLayoutVars>
      </dgm:prSet>
      <dgm:spPr/>
    </dgm:pt>
    <dgm:pt modelId="{3501A1CC-1E2A-45C2-A412-820185D2E9C2}" type="pres">
      <dgm:prSet presAssocID="{88320F91-B4AB-432B-8272-A7B57218EA1E}" presName="sibTrans" presStyleCnt="0"/>
      <dgm:spPr/>
    </dgm:pt>
    <dgm:pt modelId="{6A750E16-E140-489E-9A33-039BB84F2567}" type="pres">
      <dgm:prSet presAssocID="{22AEE2E6-4895-447B-9F9B-FF205BBEDDD3}" presName="compNode" presStyleCnt="0"/>
      <dgm:spPr/>
    </dgm:pt>
    <dgm:pt modelId="{8D9CEE79-DFCB-4BAF-B849-396C4B532714}" type="pres">
      <dgm:prSet presAssocID="{22AEE2E6-4895-447B-9F9B-FF205BBEDD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D1A37C3B-D4A3-4310-9964-3D03BBF08F42}" type="pres">
      <dgm:prSet presAssocID="{22AEE2E6-4895-447B-9F9B-FF205BBEDDD3}" presName="spaceRect" presStyleCnt="0"/>
      <dgm:spPr/>
    </dgm:pt>
    <dgm:pt modelId="{8223BBC9-F655-4C4F-B055-39BBD64DE95B}" type="pres">
      <dgm:prSet presAssocID="{22AEE2E6-4895-447B-9F9B-FF205BBEDD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A587E67-7500-4E81-B341-B28C54DEB37C}" srcId="{A618D98A-5FF3-4FD7-9D7F-B0746BF6C48E}" destId="{B3CCB2FF-1E3C-4B9A-ACBD-66E5B9390DAF}" srcOrd="2" destOrd="0" parTransId="{FCB7D2DE-3094-4EF2-A634-C0A4E2FE122A}" sibTransId="{88320F91-B4AB-432B-8272-A7B57218EA1E}"/>
    <dgm:cxn modelId="{85FC3082-F302-4422-8943-889C2E5D3A59}" srcId="{A618D98A-5FF3-4FD7-9D7F-B0746BF6C48E}" destId="{351D962C-0AF6-4617-BCB7-BE0A1A190654}" srcOrd="0" destOrd="0" parTransId="{A1E3B865-822A-467F-958E-BEA50FB8D7EC}" sibTransId="{55BC2217-DF28-4F7D-8BE8-0ACF37B4C890}"/>
    <dgm:cxn modelId="{4A819E96-919D-45D4-A525-8D3F59CA1A6E}" type="presOf" srcId="{351D962C-0AF6-4617-BCB7-BE0A1A190654}" destId="{5531B2AC-6F7C-44C0-82EA-0F5DAF5890B9}" srcOrd="0" destOrd="0" presId="urn:microsoft.com/office/officeart/2018/2/layout/IconLabelList"/>
    <dgm:cxn modelId="{B2529C97-AEC4-4CC0-B232-F39E760E58E5}" type="presOf" srcId="{E1F2FFBD-18CC-444D-973D-4889A039048B}" destId="{34A8FAC0-4F20-4711-AF42-FAB26F7A3C72}" srcOrd="0" destOrd="0" presId="urn:microsoft.com/office/officeart/2018/2/layout/IconLabelList"/>
    <dgm:cxn modelId="{A34B439D-EEFE-46CD-A90C-556385C30BB6}" type="presOf" srcId="{22AEE2E6-4895-447B-9F9B-FF205BBEDDD3}" destId="{8223BBC9-F655-4C4F-B055-39BBD64DE95B}" srcOrd="0" destOrd="0" presId="urn:microsoft.com/office/officeart/2018/2/layout/IconLabelList"/>
    <dgm:cxn modelId="{3EDCD8A8-7E8C-428D-9AB9-BBA33A16C351}" type="presOf" srcId="{A618D98A-5FF3-4FD7-9D7F-B0746BF6C48E}" destId="{9BB5D843-FCBF-4083-A6CE-39F7E88FC5FE}" srcOrd="0" destOrd="0" presId="urn:microsoft.com/office/officeart/2018/2/layout/IconLabelList"/>
    <dgm:cxn modelId="{DE8B41C0-621F-4153-980C-6D9994352E98}" srcId="{A618D98A-5FF3-4FD7-9D7F-B0746BF6C48E}" destId="{E1F2FFBD-18CC-444D-973D-4889A039048B}" srcOrd="1" destOrd="0" parTransId="{F0BAD86F-9BBA-4BB0-8C24-148CF218F7FA}" sibTransId="{19512A9C-71C7-481B-8B75-883AC2F58A93}"/>
    <dgm:cxn modelId="{9086EDEE-DEA3-4A88-AA80-149CE6ECCFBC}" srcId="{A618D98A-5FF3-4FD7-9D7F-B0746BF6C48E}" destId="{22AEE2E6-4895-447B-9F9B-FF205BBEDDD3}" srcOrd="3" destOrd="0" parTransId="{D2A0E869-5760-455C-928B-17E0448D1B03}" sibTransId="{70AE6DA9-2FFC-4736-BDA0-B826C136DD3D}"/>
    <dgm:cxn modelId="{15EABAF6-22F6-4271-BB27-76659F11C99E}" type="presOf" srcId="{B3CCB2FF-1E3C-4B9A-ACBD-66E5B9390DAF}" destId="{B1D3655D-3799-44CC-B65F-9F93E1E92D71}" srcOrd="0" destOrd="0" presId="urn:microsoft.com/office/officeart/2018/2/layout/IconLabelList"/>
    <dgm:cxn modelId="{7C758A06-E2C8-4097-BFE3-BD7DFB298F60}" type="presParOf" srcId="{9BB5D843-FCBF-4083-A6CE-39F7E88FC5FE}" destId="{17A836D3-D6AA-446E-9C63-E35046701966}" srcOrd="0" destOrd="0" presId="urn:microsoft.com/office/officeart/2018/2/layout/IconLabelList"/>
    <dgm:cxn modelId="{D357CDD9-AC9E-45CF-B086-B66F9DCCDCAD}" type="presParOf" srcId="{17A836D3-D6AA-446E-9C63-E35046701966}" destId="{CC23866A-7F26-4003-9535-EF54C119F121}" srcOrd="0" destOrd="0" presId="urn:microsoft.com/office/officeart/2018/2/layout/IconLabelList"/>
    <dgm:cxn modelId="{B0E79A81-1C99-4868-9E16-0BB627DF04A2}" type="presParOf" srcId="{17A836D3-D6AA-446E-9C63-E35046701966}" destId="{E0D06D61-ECFF-4292-B8BA-CB0CCC6F5122}" srcOrd="1" destOrd="0" presId="urn:microsoft.com/office/officeart/2018/2/layout/IconLabelList"/>
    <dgm:cxn modelId="{FC318848-D9F7-43CC-B101-9A92114B4925}" type="presParOf" srcId="{17A836D3-D6AA-446E-9C63-E35046701966}" destId="{5531B2AC-6F7C-44C0-82EA-0F5DAF5890B9}" srcOrd="2" destOrd="0" presId="urn:microsoft.com/office/officeart/2018/2/layout/IconLabelList"/>
    <dgm:cxn modelId="{E164D59F-89F7-4AE1-B8CB-098DB16AC740}" type="presParOf" srcId="{9BB5D843-FCBF-4083-A6CE-39F7E88FC5FE}" destId="{49BB8AE6-E8A1-4E63-9913-585F6F7EDCF2}" srcOrd="1" destOrd="0" presId="urn:microsoft.com/office/officeart/2018/2/layout/IconLabelList"/>
    <dgm:cxn modelId="{970F52D4-26A0-4E4A-B441-B8F5B72BD5F7}" type="presParOf" srcId="{9BB5D843-FCBF-4083-A6CE-39F7E88FC5FE}" destId="{F8DDE8BC-432B-458B-86D9-F32E3615A1E1}" srcOrd="2" destOrd="0" presId="urn:microsoft.com/office/officeart/2018/2/layout/IconLabelList"/>
    <dgm:cxn modelId="{D94D33B3-898C-4AF4-BFF3-FB72DB9BE802}" type="presParOf" srcId="{F8DDE8BC-432B-458B-86D9-F32E3615A1E1}" destId="{253C57F8-DD5E-4018-9640-DC8E50F962A2}" srcOrd="0" destOrd="0" presId="urn:microsoft.com/office/officeart/2018/2/layout/IconLabelList"/>
    <dgm:cxn modelId="{9CF2E169-2780-4A02-B65E-E062A6C80E5E}" type="presParOf" srcId="{F8DDE8BC-432B-458B-86D9-F32E3615A1E1}" destId="{A9B4EFB6-C364-4696-8729-4D9B396E0A38}" srcOrd="1" destOrd="0" presId="urn:microsoft.com/office/officeart/2018/2/layout/IconLabelList"/>
    <dgm:cxn modelId="{0466B591-E224-429F-A27F-424566D05FC8}" type="presParOf" srcId="{F8DDE8BC-432B-458B-86D9-F32E3615A1E1}" destId="{34A8FAC0-4F20-4711-AF42-FAB26F7A3C72}" srcOrd="2" destOrd="0" presId="urn:microsoft.com/office/officeart/2018/2/layout/IconLabelList"/>
    <dgm:cxn modelId="{66AA0665-34EE-4F11-84BF-AB9CE865B318}" type="presParOf" srcId="{9BB5D843-FCBF-4083-A6CE-39F7E88FC5FE}" destId="{D58FB308-7E3D-45F9-B459-3880BBE6A600}" srcOrd="3" destOrd="0" presId="urn:microsoft.com/office/officeart/2018/2/layout/IconLabelList"/>
    <dgm:cxn modelId="{253E76D9-FE01-44EA-9DAF-8F54CE610655}" type="presParOf" srcId="{9BB5D843-FCBF-4083-A6CE-39F7E88FC5FE}" destId="{1CED7AE4-F187-4C39-A270-89D741614547}" srcOrd="4" destOrd="0" presId="urn:microsoft.com/office/officeart/2018/2/layout/IconLabelList"/>
    <dgm:cxn modelId="{12E79C0B-3E86-4C2D-8C4C-14791EE78663}" type="presParOf" srcId="{1CED7AE4-F187-4C39-A270-89D741614547}" destId="{1D792ADC-ED57-400A-9BA7-82417F29EB07}" srcOrd="0" destOrd="0" presId="urn:microsoft.com/office/officeart/2018/2/layout/IconLabelList"/>
    <dgm:cxn modelId="{858DB871-9751-4438-9BC9-2CFBAE4C7990}" type="presParOf" srcId="{1CED7AE4-F187-4C39-A270-89D741614547}" destId="{0DB582AD-EFD6-421B-9439-0CFFC5F1382B}" srcOrd="1" destOrd="0" presId="urn:microsoft.com/office/officeart/2018/2/layout/IconLabelList"/>
    <dgm:cxn modelId="{C0D36372-CE55-4161-82B4-62A2CEDA4D56}" type="presParOf" srcId="{1CED7AE4-F187-4C39-A270-89D741614547}" destId="{B1D3655D-3799-44CC-B65F-9F93E1E92D71}" srcOrd="2" destOrd="0" presId="urn:microsoft.com/office/officeart/2018/2/layout/IconLabelList"/>
    <dgm:cxn modelId="{417868E5-27D0-4480-A65E-3426987AA6DF}" type="presParOf" srcId="{9BB5D843-FCBF-4083-A6CE-39F7E88FC5FE}" destId="{3501A1CC-1E2A-45C2-A412-820185D2E9C2}" srcOrd="5" destOrd="0" presId="urn:microsoft.com/office/officeart/2018/2/layout/IconLabelList"/>
    <dgm:cxn modelId="{E8C14622-6ED8-4B6C-8059-F196EBCE05FD}" type="presParOf" srcId="{9BB5D843-FCBF-4083-A6CE-39F7E88FC5FE}" destId="{6A750E16-E140-489E-9A33-039BB84F2567}" srcOrd="6" destOrd="0" presId="urn:microsoft.com/office/officeart/2018/2/layout/IconLabelList"/>
    <dgm:cxn modelId="{DCBC889A-4F05-4E5B-A674-8C312F8E0DFE}" type="presParOf" srcId="{6A750E16-E140-489E-9A33-039BB84F2567}" destId="{8D9CEE79-DFCB-4BAF-B849-396C4B532714}" srcOrd="0" destOrd="0" presId="urn:microsoft.com/office/officeart/2018/2/layout/IconLabelList"/>
    <dgm:cxn modelId="{C5C5F65E-E11B-407B-88FC-40758890ABF4}" type="presParOf" srcId="{6A750E16-E140-489E-9A33-039BB84F2567}" destId="{D1A37C3B-D4A3-4310-9964-3D03BBF08F42}" srcOrd="1" destOrd="0" presId="urn:microsoft.com/office/officeart/2018/2/layout/IconLabelList"/>
    <dgm:cxn modelId="{17B310A1-0E85-4272-A736-B0DAFB2AF1F2}" type="presParOf" srcId="{6A750E16-E140-489E-9A33-039BB84F2567}" destId="{8223BBC9-F655-4C4F-B055-39BBD64DE95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3866A-7F26-4003-9535-EF54C119F121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1B2AC-6F7C-44C0-82EA-0F5DAF5890B9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Technical Implementation </a:t>
          </a:r>
        </a:p>
      </dsp:txBody>
      <dsp:txXfrm>
        <a:off x="569079" y="2427788"/>
        <a:ext cx="2072362" cy="720000"/>
      </dsp:txXfrm>
    </dsp:sp>
    <dsp:sp modelId="{253C57F8-DD5E-4018-9640-DC8E50F962A2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8FAC0-4F20-4711-AF42-FAB26F7A3C72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User Experience Design</a:t>
          </a:r>
        </a:p>
      </dsp:txBody>
      <dsp:txXfrm>
        <a:off x="3004105" y="2427788"/>
        <a:ext cx="2072362" cy="720000"/>
      </dsp:txXfrm>
    </dsp:sp>
    <dsp:sp modelId="{1D792ADC-ED57-400A-9BA7-82417F29EB07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3655D-3799-44CC-B65F-9F93E1E92D71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Business Model Implementation </a:t>
          </a:r>
        </a:p>
      </dsp:txBody>
      <dsp:txXfrm>
        <a:off x="5439131" y="2427788"/>
        <a:ext cx="2072362" cy="720000"/>
      </dsp:txXfrm>
    </dsp:sp>
    <dsp:sp modelId="{8D9CEE79-DFCB-4BAF-B849-396C4B532714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3BBC9-F655-4C4F-B055-39BBD64DE95B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Accessibility and Internationalization </a:t>
          </a:r>
        </a:p>
      </dsp:txBody>
      <dsp:txXfrm>
        <a:off x="7874157" y="2427788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1246-9E34-BE17-E0D9-A1350D1EB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91407-659B-34A3-7C5A-CC259765F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941F2-39DA-5C2E-4EBC-88A0D9DC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D4FAD-627F-9C7B-B65A-5B16F2CF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5E3EC-0E3C-F665-FA5E-17CAA28B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2525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017C-E720-8E19-5F8D-CF2C4FD5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3EE08-4375-D004-96BD-F052F5A6B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A50E8-3C38-BA94-E278-EA9D6990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949E-3924-D321-435F-841E8145C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3E884-57C9-9421-589A-1275C1AD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108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EF14-148F-1992-E03B-57427192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AC4F5-E457-C578-35CF-10D0696DC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143C2-5CF2-05F6-BFC5-4C61EADF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3258E-8484-2BF8-1737-E3F67403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99C0-62F5-F495-0B81-0B53A084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6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5D1B-DE6D-8B79-AE1A-CEB400A52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73182-76AB-4657-3319-08BB4134E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418FA-8487-B468-CCBC-30EB3B912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58D61-EB3B-FA0A-0EDE-6057AF00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90E02-EF7B-119C-1E8C-C2D343EB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1C935-6CDB-6EA6-A6C3-AD01E002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47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A1CE-BC8D-70E7-CB68-81F255A4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513DF-F144-EB14-0192-5A9ACC4D3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1F621-7477-5951-30B3-D11684FA6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C711D-8ECF-C823-6295-DDE393204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D65CD-12EC-2DCB-A164-95D640DD2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7311D-055C-F01E-47C3-F3A5BF5B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672EE-7256-4E15-3D52-29C407C8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FF63AE-2B7A-431E-884F-4CBDB9B6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556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D598-5920-46FF-FF1A-C21C8714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EFC5E-DA98-A661-F256-85E89D0F3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C999-436B-60B6-A958-D85AF35B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DC736-39C1-5E86-0014-C4C57398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00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7DDFF-6B4C-3C14-CAF7-2CD8EA89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920DF-F674-5D7B-ABF9-5E54A63DF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36888-340F-7E31-678E-07D56B8D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214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83F8-5A4D-CA5A-2D1D-82DCE763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F9215-B317-CB70-16C3-31E1A212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5F47-9D3C-5BA7-61FF-AD2E3D922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0A97B-9C95-F7B9-9205-D808B273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F7F41-DC85-5B31-43F7-25A12B72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CD05C-BFF8-CD49-C6C2-99FC8910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884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A579-5541-8DD5-D99E-78F47F86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0475D-352B-0FCF-BCCF-339286CFF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03A34-43D1-DCA8-7A11-F050AC008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D66C2-6607-9034-6452-4BCB84A8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32CAC-6DA3-BB14-D473-780F2577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F5E3C-8382-D66C-DB4B-1205ABA6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760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4AB3-D66A-2770-FB82-C950BDD5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6A8E9-95B8-10EB-D0F2-4C1F304AE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A67BB-8BC5-3552-60A9-744F4EA7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AD9EB-1540-2A3A-37C1-95AFA53A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1C916-D727-65EC-F069-7E368ABDD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746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FC286-D099-2E2A-88C6-0F745E07C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AE7B4-D879-816A-6638-4B2A1BAC3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5452C-B5F2-1757-E762-A1FD35C0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06DF-2164-02F0-2D78-B603E64E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63C69-7248-5EFE-9CEE-57B0C47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2401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EA714-D2F7-0782-D593-87D7DB19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1F48F-F08D-CDD4-7AE3-414035D1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A2B9D-987D-1F23-F133-D1FFDBD10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40C08-58E7-3943-8920-4989BF599CFF}" type="datetimeFigureOut">
              <a:rPr lang="en-IL" smtClean="0"/>
              <a:t>07/07/2025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6762-211C-C730-9E78-D9D98234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21C5A-FF00-D7E1-CA18-8FEC1F96D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CF4C7-3DED-944E-9434-453829DD148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08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F594E40-ACA7-A9EA-EF40-7FE14F94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477" y="0"/>
            <a:ext cx="4888522" cy="68580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6F30C47-1B5C-5C04-E715-07DEAC76D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67"/>
            <a:ext cx="3263741" cy="77033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10215B50-C033-F3B0-CBAC-6AD296E7730F}"/>
              </a:ext>
            </a:extLst>
          </p:cNvPr>
          <p:cNvSpPr/>
          <p:nvPr/>
        </p:nvSpPr>
        <p:spPr>
          <a:xfrm>
            <a:off x="178312" y="1157047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WeatherSight: Long-Term Weather Forecast Marketing Platform</a:t>
            </a:r>
            <a:endParaRPr lang="en-US" sz="46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B55B4D0-57B3-2B70-C407-ADB691E95E02}"/>
              </a:ext>
            </a:extLst>
          </p:cNvPr>
          <p:cNvSpPr/>
          <p:nvPr/>
        </p:nvSpPr>
        <p:spPr>
          <a:xfrm>
            <a:off x="178313" y="382607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Aviv Aytek, Idan Aizenberg</a:t>
            </a:r>
            <a:endParaRPr lang="en-US" sz="17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9FAE35B-5715-B634-D8FB-93AEFE673689}"/>
              </a:ext>
            </a:extLst>
          </p:cNvPr>
          <p:cNvSpPr/>
          <p:nvPr/>
        </p:nvSpPr>
        <p:spPr>
          <a:xfrm>
            <a:off x="178312" y="44376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Supervisor: Dr. Zekharia Frenkel</a:t>
            </a:r>
            <a:endParaRPr lang="en-US" sz="17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113CE3B-E2C0-9D21-A99E-A8DB8E72002F}"/>
              </a:ext>
            </a:extLst>
          </p:cNvPr>
          <p:cNvSpPr/>
          <p:nvPr/>
        </p:nvSpPr>
        <p:spPr>
          <a:xfrm>
            <a:off x="178312" y="505569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Engineering Department, Capstone Project Phase A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94667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68B419F-CFD7-3D71-228C-E50D95315A41}"/>
              </a:ext>
            </a:extLst>
          </p:cNvPr>
          <p:cNvSpPr/>
          <p:nvPr/>
        </p:nvSpPr>
        <p:spPr>
          <a:xfrm>
            <a:off x="458782" y="283958"/>
            <a:ext cx="4591288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</a:t>
            </a:r>
            <a:endParaRPr lang="en-US" sz="4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F602DF8-FD0E-E38C-0F41-F19E5027AF58}"/>
              </a:ext>
            </a:extLst>
          </p:cNvPr>
          <p:cNvSpPr/>
          <p:nvPr/>
        </p:nvSpPr>
        <p:spPr>
          <a:xfrm>
            <a:off x="458782" y="1020398"/>
            <a:ext cx="5003662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Need for Long-Term Forecasts</a:t>
            </a:r>
            <a:endParaRPr lang="en-US" sz="28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23C4BDA-EA55-8BFC-343E-E4D5ADF6BADF}"/>
              </a:ext>
            </a:extLst>
          </p:cNvPr>
          <p:cNvSpPr/>
          <p:nvPr/>
        </p:nvSpPr>
        <p:spPr>
          <a:xfrm>
            <a:off x="458782" y="1552098"/>
            <a:ext cx="5841147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weather forecasts are crucial for strategic planning across many industries, influencing decisions from crop planting to logistical routes.</a:t>
            </a: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1278B1A-44E8-C636-F28F-3B227E50CFFC}"/>
              </a:ext>
            </a:extLst>
          </p:cNvPr>
          <p:cNvSpPr/>
          <p:nvPr/>
        </p:nvSpPr>
        <p:spPr>
          <a:xfrm>
            <a:off x="458782" y="2561191"/>
            <a:ext cx="6124589" cy="97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However, these forecasts often lack accessibility and practical actionability for end-users, leading to missed opportunities and increased risks.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C6B2896-8956-E106-7660-80A6759E985A}"/>
              </a:ext>
            </a:extLst>
          </p:cNvPr>
          <p:cNvSpPr/>
          <p:nvPr/>
        </p:nvSpPr>
        <p:spPr>
          <a:xfrm>
            <a:off x="464470" y="4238827"/>
            <a:ext cx="2914886" cy="43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Objective</a:t>
            </a:r>
            <a:endParaRPr lang="en-US" sz="2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B65D4A7-3485-55DE-0D78-0C4AD0E64111}"/>
              </a:ext>
            </a:extLst>
          </p:cNvPr>
          <p:cNvSpPr/>
          <p:nvPr/>
        </p:nvSpPr>
        <p:spPr>
          <a:xfrm>
            <a:off x="458782" y="4733946"/>
            <a:ext cx="6489740" cy="97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develop a platform that simplifies access to, and utilization of, long-term weather data, empowering users with actionable insights.</a:t>
            </a:r>
            <a:endParaRPr lang="en-US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1F859968-2A16-10B5-8C2D-415F134DF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421" y="0"/>
            <a:ext cx="5291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61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95F092C-1513-1367-B7C8-55EB7CB559B5}"/>
              </a:ext>
            </a:extLst>
          </p:cNvPr>
          <p:cNvSpPr/>
          <p:nvPr/>
        </p:nvSpPr>
        <p:spPr>
          <a:xfrm>
            <a:off x="361698" y="710803"/>
            <a:ext cx="37858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</a:t>
            </a:r>
            <a:endParaRPr lang="en-US" sz="4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A41A53-B57B-3314-49A4-8274C055015B}"/>
              </a:ext>
            </a:extLst>
          </p:cNvPr>
          <p:cNvGrpSpPr/>
          <p:nvPr/>
        </p:nvGrpSpPr>
        <p:grpSpPr>
          <a:xfrm>
            <a:off x="361698" y="3690223"/>
            <a:ext cx="3591737" cy="2456974"/>
            <a:chOff x="361698" y="3690223"/>
            <a:chExt cx="3893939" cy="1948815"/>
          </a:xfrm>
        </p:grpSpPr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327315C6-F687-9128-F1F7-0AF6256AA741}"/>
                </a:ext>
              </a:extLst>
            </p:cNvPr>
            <p:cNvSpPr/>
            <p:nvPr/>
          </p:nvSpPr>
          <p:spPr>
            <a:xfrm>
              <a:off x="361698" y="3690223"/>
              <a:ext cx="3326011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Data Fragmentation</a:t>
              </a:r>
              <a:endParaRPr lang="en-US" sz="2300" dirty="0"/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B6C6DB0E-8535-2695-FD46-506E9EDAE06D}"/>
                </a:ext>
              </a:extLst>
            </p:cNvPr>
            <p:cNvSpPr/>
            <p:nvPr/>
          </p:nvSpPr>
          <p:spPr>
            <a:xfrm>
              <a:off x="361698" y="4187428"/>
              <a:ext cx="3893939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Weather data is scattered across numerous providers, each with different formats, update frequencies, and access methods.</a:t>
              </a:r>
              <a:endParaRPr lang="en-US" sz="175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5DC6C6-9C7E-3FB2-42CC-81F70BA3089A}"/>
              </a:ext>
            </a:extLst>
          </p:cNvPr>
          <p:cNvGrpSpPr/>
          <p:nvPr/>
        </p:nvGrpSpPr>
        <p:grpSpPr>
          <a:xfrm>
            <a:off x="4147595" y="3715702"/>
            <a:ext cx="3893939" cy="2052984"/>
            <a:chOff x="5365300" y="4187428"/>
            <a:chExt cx="3893939" cy="2052984"/>
          </a:xfrm>
        </p:grpSpPr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FB2ADDC2-CD70-B7BD-0E1D-1670BFE0D5D1}"/>
                </a:ext>
              </a:extLst>
            </p:cNvPr>
            <p:cNvSpPr/>
            <p:nvPr/>
          </p:nvSpPr>
          <p:spPr>
            <a:xfrm>
              <a:off x="5368171" y="4187428"/>
              <a:ext cx="3312652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Lack of User-Friendly Tools</a:t>
              </a:r>
              <a:endParaRPr lang="en-US" sz="2300" dirty="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72A85DC3-0C55-DD81-FA14-8EAD90BB44E2}"/>
                </a:ext>
              </a:extLst>
            </p:cNvPr>
            <p:cNvSpPr/>
            <p:nvPr/>
          </p:nvSpPr>
          <p:spPr>
            <a:xfrm>
              <a:off x="5365300" y="4788802"/>
              <a:ext cx="3893939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Existing tools are often complex, requiring technical expertise to extract meaningful information, hindering broad adoption.</a:t>
              </a:r>
              <a:endParaRPr lang="en-US" sz="175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41D4D9-CCC1-9625-86AF-7F29A23C3B99}"/>
              </a:ext>
            </a:extLst>
          </p:cNvPr>
          <p:cNvGrpSpPr/>
          <p:nvPr/>
        </p:nvGrpSpPr>
        <p:grpSpPr>
          <a:xfrm>
            <a:off x="250785" y="2521744"/>
            <a:ext cx="11690430" cy="907256"/>
            <a:chOff x="793790" y="3053358"/>
            <a:chExt cx="13042701" cy="907256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AE2DA6D1-D8D9-6FCC-7630-555A82117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790" y="3053358"/>
              <a:ext cx="4347567" cy="907256"/>
            </a:xfrm>
            <a:prstGeom prst="rect">
              <a:avLst/>
            </a:prstGeom>
          </p:spPr>
        </p:pic>
        <p:pic>
          <p:nvPicPr>
            <p:cNvPr id="8" name="Image 1" descr="preencoded.png">
              <a:extLst>
                <a:ext uri="{FF2B5EF4-FFF2-40B4-BE49-F238E27FC236}">
                  <a16:creationId xmlns:a16="http://schemas.microsoft.com/office/drawing/2014/main" id="{E5AC2827-D5E7-7087-1F78-FB129FB59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1357" y="3053358"/>
              <a:ext cx="4347567" cy="907256"/>
            </a:xfrm>
            <a:prstGeom prst="rect">
              <a:avLst/>
            </a:prstGeom>
          </p:spPr>
        </p:pic>
        <p:pic>
          <p:nvPicPr>
            <p:cNvPr id="11" name="Image 2" descr="preencoded.png">
              <a:extLst>
                <a:ext uri="{FF2B5EF4-FFF2-40B4-BE49-F238E27FC236}">
                  <a16:creationId xmlns:a16="http://schemas.microsoft.com/office/drawing/2014/main" id="{FB2FC95D-633D-1EBF-2DC1-040161B47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8924" y="3053358"/>
              <a:ext cx="4347567" cy="90725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5A48BA-F56C-16FA-C982-880A392F26E2}"/>
              </a:ext>
            </a:extLst>
          </p:cNvPr>
          <p:cNvGrpSpPr/>
          <p:nvPr/>
        </p:nvGrpSpPr>
        <p:grpSpPr>
          <a:xfrm>
            <a:off x="8235694" y="3690223"/>
            <a:ext cx="3591737" cy="2069186"/>
            <a:chOff x="9715738" y="4187428"/>
            <a:chExt cx="3893939" cy="2069186"/>
          </a:xfrm>
        </p:grpSpPr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AEBD3E74-941D-FA4F-8B01-FE9EC1D99CFC}"/>
                </a:ext>
              </a:extLst>
            </p:cNvPr>
            <p:cNvSpPr/>
            <p:nvPr/>
          </p:nvSpPr>
          <p:spPr>
            <a:xfrm>
              <a:off x="9715738" y="4187428"/>
              <a:ext cx="3189327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30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Non-Tailored Forecasts</a:t>
              </a:r>
              <a:endParaRPr lang="en-US" sz="2300" dirty="0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545DC1EC-07D7-E71E-2D03-F5C83805D9A5}"/>
                </a:ext>
              </a:extLst>
            </p:cNvPr>
            <p:cNvSpPr/>
            <p:nvPr/>
          </p:nvSpPr>
          <p:spPr>
            <a:xfrm>
              <a:off x="9715738" y="4805004"/>
              <a:ext cx="3893939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Generic forecasts rarely meet the specific, nuanced needs of diverse industries, leading to irrelevant or incomplete insights.</a:t>
              </a:r>
              <a:endParaRPr lang="en-US" sz="1750" dirty="0"/>
            </a:p>
          </p:txBody>
        </p:sp>
      </p:grpSp>
    </p:spTree>
    <p:extLst>
      <p:ext uri="{BB962C8B-B14F-4D97-AF65-F5344CB8AC3E}">
        <p14:creationId xmlns:p14="http://schemas.microsoft.com/office/powerpoint/2010/main" val="203752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AA5566B-F0D1-74EC-ED5F-33BF8514D0C3}"/>
              </a:ext>
            </a:extLst>
          </p:cNvPr>
          <p:cNvSpPr/>
          <p:nvPr/>
        </p:nvSpPr>
        <p:spPr>
          <a:xfrm>
            <a:off x="309433" y="207942"/>
            <a:ext cx="5376148" cy="671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Solution Overview</a:t>
            </a:r>
            <a:endParaRPr lang="en-US" sz="4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DC26F4E-B7A9-20D3-147E-7AB3F3322539}"/>
              </a:ext>
            </a:extLst>
          </p:cNvPr>
          <p:cNvSpPr/>
          <p:nvPr/>
        </p:nvSpPr>
        <p:spPr>
          <a:xfrm>
            <a:off x="309433" y="1002685"/>
            <a:ext cx="11882567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WeatherSight provides a unified platform designed to overcome data challenges, delivering tailored and actionable long-term weather forecasts.</a:t>
            </a:r>
            <a:endParaRPr lang="en-US" sz="20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F48E7B3-F31C-8F56-D87D-D3F203655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32" y="2047249"/>
            <a:ext cx="624422" cy="61436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AA6406B-CD36-2345-9858-7E4139265862}"/>
              </a:ext>
            </a:extLst>
          </p:cNvPr>
          <p:cNvSpPr/>
          <p:nvPr/>
        </p:nvSpPr>
        <p:spPr>
          <a:xfrm>
            <a:off x="309433" y="2747520"/>
            <a:ext cx="4243217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Customer-Driven Filtering &amp; Query Builder</a:t>
            </a:r>
            <a:endParaRPr lang="en-US" sz="21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D2D6C78-D07F-3F23-124F-AAF18922DB71}"/>
              </a:ext>
            </a:extLst>
          </p:cNvPr>
          <p:cNvSpPr/>
          <p:nvPr/>
        </p:nvSpPr>
        <p:spPr>
          <a:xfrm>
            <a:off x="309432" y="3206387"/>
            <a:ext cx="5156131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Create, save, and share custom filters-location, dates, thresholds for instant tailored insights.</a:t>
            </a:r>
            <a:endParaRPr lang="en-US" sz="16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3898A3-0CDD-8237-45A0-774F2A94B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652" y="2014444"/>
            <a:ext cx="624421" cy="614363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A278F09A-5D0B-9351-1AC1-D9FE9DF54030}"/>
              </a:ext>
            </a:extLst>
          </p:cNvPr>
          <p:cNvSpPr/>
          <p:nvPr/>
        </p:nvSpPr>
        <p:spPr>
          <a:xfrm>
            <a:off x="6481653" y="2747520"/>
            <a:ext cx="3033812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Clear, Action-Ready Insights</a:t>
            </a:r>
            <a:endParaRPr lang="en-US" sz="2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A953CA3-1AAC-6B37-5B64-821D018F0735}"/>
              </a:ext>
            </a:extLst>
          </p:cNvPr>
          <p:cNvSpPr/>
          <p:nvPr/>
        </p:nvSpPr>
        <p:spPr>
          <a:xfrm>
            <a:off x="6481653" y="3206387"/>
            <a:ext cx="56001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translate complex, multi-source weather data into clear, action-ready insights, helping users make informed decisions quickly.</a:t>
            </a:r>
            <a:endParaRPr lang="en-US" sz="16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94C9DDBA-0D67-5010-3BB6-CA3B56A41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32" y="4173029"/>
            <a:ext cx="624420" cy="614363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E6571A6C-660C-FFB6-C255-CCFF33F64381}"/>
              </a:ext>
            </a:extLst>
          </p:cNvPr>
          <p:cNvSpPr/>
          <p:nvPr/>
        </p:nvSpPr>
        <p:spPr>
          <a:xfrm>
            <a:off x="309433" y="4894922"/>
            <a:ext cx="2376564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Sector-Specific Insights</a:t>
            </a:r>
            <a:endParaRPr lang="en-US" sz="21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D6F1C20-0D2A-FD9D-3288-D8946C53D315}"/>
              </a:ext>
            </a:extLst>
          </p:cNvPr>
          <p:cNvSpPr/>
          <p:nvPr/>
        </p:nvSpPr>
        <p:spPr>
          <a:xfrm>
            <a:off x="309432" y="5353789"/>
            <a:ext cx="5245062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Customized visualizations and alerts, precisely tailored to meet industry-specific requirements.</a:t>
            </a:r>
            <a:endParaRPr lang="en-US" sz="160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AE0D82AC-34D6-4DB4-CDE6-9B26AC60E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652" y="4173029"/>
            <a:ext cx="624420" cy="614363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E7BE35C4-F1BF-03CE-9F24-3D7BB8259E2C}"/>
              </a:ext>
            </a:extLst>
          </p:cNvPr>
          <p:cNvSpPr/>
          <p:nvPr/>
        </p:nvSpPr>
        <p:spPr>
          <a:xfrm>
            <a:off x="6481653" y="4864170"/>
            <a:ext cx="2326497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Model</a:t>
            </a:r>
            <a:endParaRPr lang="en-US" sz="21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670E1B21-DD13-7085-36CE-1A8172D84BB5}"/>
              </a:ext>
            </a:extLst>
          </p:cNvPr>
          <p:cNvSpPr/>
          <p:nvPr/>
        </p:nvSpPr>
        <p:spPr>
          <a:xfrm>
            <a:off x="6481653" y="5323037"/>
            <a:ext cx="56001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WeatherSight offers four tiers: Basic (free, limited data), Standard (30-day forecasts), Professional (advanced models, alerts), and Enterprise (full access, real-time alerts, API).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0100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76CB0D6-C5CE-507E-9B54-860D200670DC}"/>
              </a:ext>
            </a:extLst>
          </p:cNvPr>
          <p:cNvSpPr/>
          <p:nvPr/>
        </p:nvSpPr>
        <p:spPr>
          <a:xfrm>
            <a:off x="415290" y="2830874"/>
            <a:ext cx="5680710" cy="70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 Audience</a:t>
            </a:r>
            <a:endParaRPr lang="en-US" sz="44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F304AD7-1B43-ECF3-060C-C8132680F3EF}"/>
              </a:ext>
            </a:extLst>
          </p:cNvPr>
          <p:cNvSpPr/>
          <p:nvPr/>
        </p:nvSpPr>
        <p:spPr>
          <a:xfrm>
            <a:off x="505108" y="3952831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9A44BFC-C5F9-B602-CE39-89BC9C31E19E}"/>
              </a:ext>
            </a:extLst>
          </p:cNvPr>
          <p:cNvSpPr/>
          <p:nvPr/>
        </p:nvSpPr>
        <p:spPr>
          <a:xfrm>
            <a:off x="1208291" y="4027126"/>
            <a:ext cx="28403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Agriculture</a:t>
            </a:r>
            <a:endParaRPr lang="en-US" sz="22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654B01C-A1BB-769B-E09F-010E364D3649}"/>
              </a:ext>
            </a:extLst>
          </p:cNvPr>
          <p:cNvSpPr/>
          <p:nvPr/>
        </p:nvSpPr>
        <p:spPr>
          <a:xfrm>
            <a:off x="505108" y="4872469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1BAB5F1-904A-ED62-ADC3-58AEA43DC556}"/>
              </a:ext>
            </a:extLst>
          </p:cNvPr>
          <p:cNvSpPr/>
          <p:nvPr/>
        </p:nvSpPr>
        <p:spPr>
          <a:xfrm>
            <a:off x="1208291" y="4946764"/>
            <a:ext cx="28403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Logistics</a:t>
            </a:r>
            <a:endParaRPr lang="en-US" sz="2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D54B2BB-E7F8-C3B2-E0FB-221EEAF1D549}"/>
              </a:ext>
            </a:extLst>
          </p:cNvPr>
          <p:cNvSpPr/>
          <p:nvPr/>
        </p:nvSpPr>
        <p:spPr>
          <a:xfrm>
            <a:off x="505108" y="5792108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C589FF9-E32E-5B7B-DF42-6871CA7ED0C1}"/>
              </a:ext>
            </a:extLst>
          </p:cNvPr>
          <p:cNvSpPr/>
          <p:nvPr/>
        </p:nvSpPr>
        <p:spPr>
          <a:xfrm>
            <a:off x="1208291" y="5866403"/>
            <a:ext cx="28403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Energy</a:t>
            </a:r>
            <a:endParaRPr lang="en-US" sz="22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CB7E7C7-8270-6535-A760-FE9C237BCBDC}"/>
              </a:ext>
            </a:extLst>
          </p:cNvPr>
          <p:cNvSpPr/>
          <p:nvPr/>
        </p:nvSpPr>
        <p:spPr>
          <a:xfrm>
            <a:off x="8648462" y="4027126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93444D6-9DCC-0BA1-207C-8C1AD2715728}"/>
              </a:ext>
            </a:extLst>
          </p:cNvPr>
          <p:cNvSpPr/>
          <p:nvPr/>
        </p:nvSpPr>
        <p:spPr>
          <a:xfrm>
            <a:off x="9351645" y="4101421"/>
            <a:ext cx="28403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Urban Planning</a:t>
            </a:r>
            <a:endParaRPr lang="en-US" sz="2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7DD30607-330F-F4B3-E037-732760F5984E}"/>
              </a:ext>
            </a:extLst>
          </p:cNvPr>
          <p:cNvSpPr/>
          <p:nvPr/>
        </p:nvSpPr>
        <p:spPr>
          <a:xfrm>
            <a:off x="4576785" y="4027126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4FA8FD2-3416-7630-DE69-9B7E040303A5}"/>
              </a:ext>
            </a:extLst>
          </p:cNvPr>
          <p:cNvSpPr/>
          <p:nvPr/>
        </p:nvSpPr>
        <p:spPr>
          <a:xfrm>
            <a:off x="5279968" y="4101421"/>
            <a:ext cx="28403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 Estate</a:t>
            </a:r>
            <a:endParaRPr lang="en-US" sz="22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F45AB62-FA22-C258-8858-47440423FFAD}"/>
              </a:ext>
            </a:extLst>
          </p:cNvPr>
          <p:cNvSpPr/>
          <p:nvPr/>
        </p:nvSpPr>
        <p:spPr>
          <a:xfrm>
            <a:off x="4576785" y="4946764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9E05D91-98DB-ECE7-5BB8-961BB747A3E1}"/>
              </a:ext>
            </a:extLst>
          </p:cNvPr>
          <p:cNvSpPr/>
          <p:nvPr/>
        </p:nvSpPr>
        <p:spPr>
          <a:xfrm>
            <a:off x="5279968" y="5021059"/>
            <a:ext cx="28403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Insurance</a:t>
            </a:r>
            <a:endParaRPr lang="en-US" sz="22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5D9D015-2B3A-3F6B-E69C-4D08F0F1EF35}"/>
              </a:ext>
            </a:extLst>
          </p:cNvPr>
          <p:cNvSpPr/>
          <p:nvPr/>
        </p:nvSpPr>
        <p:spPr>
          <a:xfrm>
            <a:off x="4576785" y="5792108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8072339-5823-B3B1-7680-25E366CA9250}"/>
              </a:ext>
            </a:extLst>
          </p:cNvPr>
          <p:cNvSpPr/>
          <p:nvPr/>
        </p:nvSpPr>
        <p:spPr>
          <a:xfrm>
            <a:off x="5279968" y="5866403"/>
            <a:ext cx="28403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Private Users</a:t>
            </a:r>
            <a:endParaRPr lang="en-US" sz="2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EA6DFB-2D30-A86F-405A-E8363761E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643289"/>
          </a:xfrm>
          <a:prstGeom prst="rect">
            <a:avLst/>
          </a:prstGeom>
        </p:spPr>
      </p:pic>
      <p:sp>
        <p:nvSpPr>
          <p:cNvPr id="2" name="Shape 11">
            <a:extLst>
              <a:ext uri="{FF2B5EF4-FFF2-40B4-BE49-F238E27FC236}">
                <a16:creationId xmlns:a16="http://schemas.microsoft.com/office/drawing/2014/main" id="{0F1E62ED-ABDD-67DF-3407-5A38F72F1864}"/>
              </a:ext>
            </a:extLst>
          </p:cNvPr>
          <p:cNvSpPr/>
          <p:nvPr/>
        </p:nvSpPr>
        <p:spPr>
          <a:xfrm>
            <a:off x="8648462" y="4955000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C598E3A6-FADF-2E79-0AB4-2A0A7B6E920B}"/>
              </a:ext>
            </a:extLst>
          </p:cNvPr>
          <p:cNvSpPr/>
          <p:nvPr/>
        </p:nvSpPr>
        <p:spPr>
          <a:xfrm>
            <a:off x="9351645" y="5029295"/>
            <a:ext cx="2840355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</a:rPr>
              <a:t>Military Purposes</a:t>
            </a:r>
            <a:endParaRPr lang="en-US" sz="22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AC8BF6C1-3768-591F-6372-D23496A3321A}"/>
              </a:ext>
            </a:extLst>
          </p:cNvPr>
          <p:cNvSpPr/>
          <p:nvPr/>
        </p:nvSpPr>
        <p:spPr>
          <a:xfrm>
            <a:off x="8648462" y="5800344"/>
            <a:ext cx="486847" cy="486847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D7F8F13D-8520-E9E2-086D-560D6EB4A3D9}"/>
              </a:ext>
            </a:extLst>
          </p:cNvPr>
          <p:cNvSpPr/>
          <p:nvPr/>
        </p:nvSpPr>
        <p:spPr>
          <a:xfrm>
            <a:off x="9351646" y="5874639"/>
            <a:ext cx="2273088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defTabSz="914400" rtl="0" eaLnBrk="1" latinLnBrk="0" hangingPunct="1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</a:rPr>
              <a:t>Government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1093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3539CF1-C621-162D-A1B3-1BFF9E099A3B}"/>
              </a:ext>
            </a:extLst>
          </p:cNvPr>
          <p:cNvSpPr/>
          <p:nvPr/>
        </p:nvSpPr>
        <p:spPr>
          <a:xfrm>
            <a:off x="425929" y="248922"/>
            <a:ext cx="776616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Overview &amp; Architecture</a:t>
            </a:r>
            <a:endParaRPr lang="en-US" sz="46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281EA68-0104-41C2-C232-A942EA601570}"/>
              </a:ext>
            </a:extLst>
          </p:cNvPr>
          <p:cNvSpPr/>
          <p:nvPr/>
        </p:nvSpPr>
        <p:spPr>
          <a:xfrm>
            <a:off x="425929" y="1108753"/>
            <a:ext cx="115348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WeatherSight is built on a robust, modular architecture designed for scalability and reliability.</a:t>
            </a:r>
            <a:endParaRPr lang="en-US" sz="1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28E6397-E9C3-0575-5069-A26DC5D77FA2}"/>
              </a:ext>
            </a:extLst>
          </p:cNvPr>
          <p:cNvSpPr/>
          <p:nvPr/>
        </p:nvSpPr>
        <p:spPr>
          <a:xfrm>
            <a:off x="425929" y="2113922"/>
            <a:ext cx="8796900" cy="457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600" b="1" dirty="0"/>
              <a:t>Data Ingestion:</a:t>
            </a:r>
            <a:br>
              <a:rPr lang="en-US" sz="1600" dirty="0"/>
            </a:br>
            <a:r>
              <a:rPr lang="en-US" sz="1600" dirty="0"/>
              <a:t>Collects weather data from files or internal sources using ETL pipelines built with Node.js and SQL.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Backend Services:</a:t>
            </a:r>
            <a:br>
              <a:rPr lang="en-US" sz="1600" dirty="0"/>
            </a:br>
            <a:r>
              <a:rPr lang="en-US" sz="1600" dirty="0"/>
              <a:t>Processes, analyzes, and manages data flow using Node.js with Express.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Database:</a:t>
            </a:r>
            <a:br>
              <a:rPr lang="en-US" sz="1600" dirty="0"/>
            </a:br>
            <a:r>
              <a:rPr lang="en-US" sz="1600" dirty="0"/>
              <a:t>Securely stores historical and forecast data using PostgreSQL or </a:t>
            </a:r>
            <a:r>
              <a:rPr lang="en-US" sz="1600" dirty="0" err="1"/>
              <a:t>mySQL</a:t>
            </a:r>
            <a:r>
              <a:rPr lang="en-US" sz="1600" dirty="0"/>
              <a:t>.</a:t>
            </a: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Frontend:</a:t>
            </a:r>
            <a:br>
              <a:rPr lang="en-US" sz="1600" dirty="0"/>
            </a:br>
            <a:r>
              <a:rPr lang="en-US" sz="1600" dirty="0"/>
              <a:t>Web interface developed in </a:t>
            </a:r>
            <a:r>
              <a:rPr lang="en-US" sz="1600" dirty="0" err="1"/>
              <a:t>React.js</a:t>
            </a:r>
            <a:r>
              <a:rPr lang="en-US" sz="1600" dirty="0"/>
              <a:t> for user interaction, data queries, and visualizations.</a:t>
            </a:r>
          </a:p>
          <a:p>
            <a:endParaRPr lang="en-US" sz="1600" b="1" dirty="0"/>
          </a:p>
          <a:p>
            <a:r>
              <a:rPr lang="en-US" sz="1600" b="1" dirty="0"/>
              <a:t>Notification System:</a:t>
            </a:r>
            <a:br>
              <a:rPr lang="en-US" sz="1600" dirty="0"/>
            </a:br>
            <a:r>
              <a:rPr lang="en-US" sz="1600" dirty="0"/>
              <a:t>Delivers personalized weather alerts via email/SMS.</a:t>
            </a:r>
          </a:p>
        </p:txBody>
      </p:sp>
    </p:spTree>
    <p:extLst>
      <p:ext uri="{BB962C8B-B14F-4D97-AF65-F5344CB8AC3E}">
        <p14:creationId xmlns:p14="http://schemas.microsoft.com/office/powerpoint/2010/main" val="3841528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51FF5B3-99C5-4601-B310-D5A3E58472CB}"/>
              </a:ext>
            </a:extLst>
          </p:cNvPr>
          <p:cNvSpPr/>
          <p:nvPr/>
        </p:nvSpPr>
        <p:spPr>
          <a:xfrm>
            <a:off x="226232" y="611628"/>
            <a:ext cx="47749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Platform Features</a:t>
            </a:r>
            <a:endParaRPr lang="en-US" sz="46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75053AD2-0B9D-6662-A1CD-4472700D6AE6}"/>
              </a:ext>
            </a:extLst>
          </p:cNvPr>
          <p:cNvSpPr/>
          <p:nvPr/>
        </p:nvSpPr>
        <p:spPr>
          <a:xfrm>
            <a:off x="226232" y="1951201"/>
            <a:ext cx="5007920" cy="1793558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B9B6B3C-917F-EE73-88E9-6109195D4C0D}"/>
              </a:ext>
            </a:extLst>
          </p:cNvPr>
          <p:cNvSpPr/>
          <p:nvPr/>
        </p:nvSpPr>
        <p:spPr>
          <a:xfrm>
            <a:off x="460666" y="2185635"/>
            <a:ext cx="27182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Intuitive Query Interface</a:t>
            </a:r>
            <a:endParaRPr lang="en-US" sz="23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2DE4DE7-DBA5-2CA5-3DC1-A8F7BE90A58C}"/>
              </a:ext>
            </a:extLst>
          </p:cNvPr>
          <p:cNvSpPr/>
          <p:nvPr/>
        </p:nvSpPr>
        <p:spPr>
          <a:xfrm>
            <a:off x="460666" y="2784519"/>
            <a:ext cx="46319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Effortlessly search for forecasts by location, time, and specific weather parameters.</a:t>
            </a:r>
            <a:endParaRPr lang="en-US" sz="17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BB3AB64-E4DE-18DC-90A6-132B7D74EE7D}"/>
              </a:ext>
            </a:extLst>
          </p:cNvPr>
          <p:cNvSpPr/>
          <p:nvPr/>
        </p:nvSpPr>
        <p:spPr>
          <a:xfrm>
            <a:off x="226232" y="3971572"/>
            <a:ext cx="5007920" cy="1793558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788D8CE-3416-D83C-6ACA-5BD9D1FBA629}"/>
              </a:ext>
            </a:extLst>
          </p:cNvPr>
          <p:cNvSpPr/>
          <p:nvPr/>
        </p:nvSpPr>
        <p:spPr>
          <a:xfrm>
            <a:off x="460666" y="4206006"/>
            <a:ext cx="259681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Visualizations</a:t>
            </a:r>
            <a:endParaRPr lang="en-US" sz="2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879F352-6BD3-1470-D27E-D9A9F09A45B8}"/>
              </a:ext>
            </a:extLst>
          </p:cNvPr>
          <p:cNvSpPr/>
          <p:nvPr/>
        </p:nvSpPr>
        <p:spPr>
          <a:xfrm>
            <a:off x="460666" y="4804891"/>
            <a:ext cx="46319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charts and maps to easily understand complex weather data and trends.</a:t>
            </a:r>
            <a:endParaRPr lang="en-US" sz="17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B11E9075-4D63-E44B-3522-376B859D8EC5}"/>
              </a:ext>
            </a:extLst>
          </p:cNvPr>
          <p:cNvSpPr/>
          <p:nvPr/>
        </p:nvSpPr>
        <p:spPr>
          <a:xfrm>
            <a:off x="6338281" y="1951201"/>
            <a:ext cx="5007920" cy="1793558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B82F38E-94B5-2A5C-3BB2-4F164F9C7C60}"/>
              </a:ext>
            </a:extLst>
          </p:cNvPr>
          <p:cNvSpPr/>
          <p:nvPr/>
        </p:nvSpPr>
        <p:spPr>
          <a:xfrm>
            <a:off x="6572715" y="2185635"/>
            <a:ext cx="238742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Customizable Alerts</a:t>
            </a:r>
            <a:endParaRPr lang="en-US" sz="23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8DC1CA8-F5F3-C9B2-87B9-3485BE901912}"/>
              </a:ext>
            </a:extLst>
          </p:cNvPr>
          <p:cNvSpPr/>
          <p:nvPr/>
        </p:nvSpPr>
        <p:spPr>
          <a:xfrm>
            <a:off x="6572715" y="2784519"/>
            <a:ext cx="46319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personalized notifications for critical weather events relevant to your operations.</a:t>
            </a:r>
            <a:endParaRPr lang="en-US" sz="17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B8AC39E-F679-5B49-992B-65E74DC465F0}"/>
              </a:ext>
            </a:extLst>
          </p:cNvPr>
          <p:cNvSpPr/>
          <p:nvPr/>
        </p:nvSpPr>
        <p:spPr>
          <a:xfrm>
            <a:off x="6338281" y="3971572"/>
            <a:ext cx="5007920" cy="1793558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BA8329D-329D-9036-5686-65EC870AC867}"/>
              </a:ext>
            </a:extLst>
          </p:cNvPr>
          <p:cNvSpPr/>
          <p:nvPr/>
        </p:nvSpPr>
        <p:spPr>
          <a:xfrm>
            <a:off x="6572715" y="4206006"/>
            <a:ext cx="238742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Forecast Export</a:t>
            </a:r>
            <a:endParaRPr lang="en-US" sz="23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93AE43C-466B-66CF-BC37-80D51A6B8D4A}"/>
              </a:ext>
            </a:extLst>
          </p:cNvPr>
          <p:cNvSpPr/>
          <p:nvPr/>
        </p:nvSpPr>
        <p:spPr>
          <a:xfrm>
            <a:off x="6572715" y="4804891"/>
            <a:ext cx="46319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forecast data in various formats for offline analysis and integration with other tools.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00840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2BD28-FD16-3B57-C79A-67E787F0E59D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GUI</a:t>
            </a:r>
            <a:endParaRPr lang="en-US" sz="5400" dirty="0">
              <a:latin typeface="+mj-lt"/>
              <a:ea typeface="+mj-ea"/>
              <a:cs typeface="+mj-cs"/>
            </a:endParaRP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D0621E-09C6-74EB-9265-ABD47DE86A6E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HOME PAGE-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From the Home Page, users log in to the platform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BFAA5429-7319-737A-7E95-D2547E7C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16" r="10589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57064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7" name="Rectangle 105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5CA93-BB9E-EE49-90A9-B12E7B1D7D50}"/>
              </a:ext>
            </a:extLst>
          </p:cNvPr>
          <p:cNvSpPr txBox="1"/>
          <p:nvPr/>
        </p:nvSpPr>
        <p:spPr>
          <a:xfrm>
            <a:off x="630936" y="457200"/>
            <a:ext cx="4343400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latin typeface="+mj-lt"/>
                <a:ea typeface="+mj-ea"/>
                <a:cs typeface="+mj-cs"/>
              </a:rPr>
              <a:t>GUI</a:t>
            </a:r>
            <a:endParaRPr lang="en-US" sz="4800" dirty="0">
              <a:latin typeface="+mj-lt"/>
              <a:ea typeface="+mj-ea"/>
              <a:cs typeface="+mj-cs"/>
            </a:endParaRPr>
          </a:p>
        </p:txBody>
      </p:sp>
      <p:sp>
        <p:nvSpPr>
          <p:cNvPr id="105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E6AF6-CE5C-7E3F-52D6-A48864892431}"/>
              </a:ext>
            </a:extLst>
          </p:cNvPr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Dashboard Page-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First time user &amp; registered user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C2228A1-09F9-DB4E-62B9-F46B6307C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5459" y="2337293"/>
            <a:ext cx="5811014" cy="434373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189F9F4-EBF9-BFDA-0A53-F7AB8BDF6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5527" y="2337291"/>
            <a:ext cx="5811014" cy="43437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528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7" name="Rectangle 2066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0A357-F563-90D8-FE17-6757A9404D22}"/>
              </a:ext>
            </a:extLst>
          </p:cNvPr>
          <p:cNvSpPr txBox="1"/>
          <p:nvPr/>
        </p:nvSpPr>
        <p:spPr>
          <a:xfrm>
            <a:off x="838200" y="4440602"/>
            <a:ext cx="3300663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GUI</a:t>
            </a:r>
            <a:endParaRPr lang="en-U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2052" name="Picture 4" descr="A screenshot of a calendar&#10;&#10;AI-generated content may be incorrect.">
            <a:extLst>
              <a:ext uri="{FF2B5EF4-FFF2-40B4-BE49-F238E27FC236}">
                <a16:creationId xmlns:a16="http://schemas.microsoft.com/office/drawing/2014/main" id="{001C218B-DB21-6D80-BA96-19A6570EB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416" y="365760"/>
            <a:ext cx="3357395" cy="363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0DB588-FB24-5534-8B9C-779D0F6B8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32389" y="365760"/>
            <a:ext cx="3584448" cy="298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B8D81D-AA07-6B91-30B6-73E1CBFC4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8916" y="365760"/>
            <a:ext cx="3584448" cy="236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Rectangle 2068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1B7A5-1ECC-E52E-3E72-4D3CFDEAEB5F}"/>
              </a:ext>
            </a:extLst>
          </p:cNvPr>
          <p:cNvSpPr txBox="1"/>
          <p:nvPr/>
        </p:nvSpPr>
        <p:spPr>
          <a:xfrm>
            <a:off x="4578824" y="4440602"/>
            <a:ext cx="6860184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Search Page-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Multiple options for the search process</a:t>
            </a:r>
          </a:p>
        </p:txBody>
      </p:sp>
    </p:spTree>
    <p:extLst>
      <p:ext uri="{BB962C8B-B14F-4D97-AF65-F5344CB8AC3E}">
        <p14:creationId xmlns:p14="http://schemas.microsoft.com/office/powerpoint/2010/main" val="420084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2C520-0C53-EFE0-E45E-F859BCAD4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C2038-AA2B-F451-66F4-9548DC984662}"/>
              </a:ext>
            </a:extLst>
          </p:cNvPr>
          <p:cNvSpPr txBox="1"/>
          <p:nvPr/>
        </p:nvSpPr>
        <p:spPr>
          <a:xfrm>
            <a:off x="640080" y="320040"/>
            <a:ext cx="6692827" cy="3892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GUI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A705F-DF4E-4399-FB6F-3292510DED2F}"/>
              </a:ext>
            </a:extLst>
          </p:cNvPr>
          <p:cNvSpPr txBox="1"/>
          <p:nvPr/>
        </p:nvSpPr>
        <p:spPr>
          <a:xfrm>
            <a:off x="640080" y="4631161"/>
            <a:ext cx="6692827" cy="1569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RESULTS PAGE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תמונה שמכילה טקסט, צילום מסך, תוכנה, דף אינטרנט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280269D4-DCB1-D951-3B3D-DE0E020FC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97584" y="62906"/>
            <a:ext cx="4779854" cy="673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27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8D985B6-ABFA-54C6-9173-F6FBB92B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Expected Achievements</a:t>
            </a:r>
            <a:endParaRPr lang="en-IL" dirty="0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0CCBEAA2-4458-C4A0-FE39-ED79627794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3444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C387FA3-3EA3-177C-E5F9-2A3B3E09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  <a:b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Time for Questions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A0A2763C-6A25-8162-58A7-131A466B8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91817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8829</TotalTime>
  <Words>531</Words>
  <Application>Microsoft Macintosh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Achievements</vt:lpstr>
      <vt:lpstr>Thank You! Time for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עידן אייזנברג</dc:creator>
  <cp:lastModifiedBy>עידן אייזנברג</cp:lastModifiedBy>
  <cp:revision>4</cp:revision>
  <dcterms:created xsi:type="dcterms:W3CDTF">2025-07-06T09:02:54Z</dcterms:created>
  <dcterms:modified xsi:type="dcterms:W3CDTF">2025-07-13T06:31:29Z</dcterms:modified>
</cp:coreProperties>
</file>